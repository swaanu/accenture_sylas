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accenture 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AI reinvention made real</a:t>
            </a:r>
          </a:p>
          <a:p>
            <a:pPr>
              <a:spcBef>
                <a:spcPts val="1400"/>
              </a:spcBef>
              <a:defRPr sz="2000">
                <a:solidFill>
                  <a:srgbClr val="00E5FF"/>
                </a:solidFill>
              </a:defRPr>
            </a:pPr>
            <a:r>
              <a:t>DigitalTwin.ai / Sylas — Physics-Informed Cyber-Physical Twin for Industrial Assembly Lines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Deterministic Bottleneck Prediction • First-Principles PINN Solvers • Unit-Level Quality Recall Containment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120640"/>
            <a:ext cx="4114800" cy="594360"/>
          </a:xfrm>
          <a:prstGeom prst="round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Accenture Innovation Challenge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Team details</a:t>
            </a:r>
          </a:p>
          <a:p>
            <a:pPr>
              <a:defRPr sz="1400" b="1">
                <a:solidFill>
                  <a:srgbClr val="A100FF"/>
                </a:solidFill>
              </a:defRPr>
            </a:pPr>
            <a:r>
              <a:t>TEAM NAME: Sylas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493776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65760" rIns="365760"/>
          <a:lstStyle/>
          <a:p>
            <a:pPr algn="ctr">
              <a:defRPr sz="2200" b="1">
                <a:solidFill>
                  <a:srgbClr val="A100FF"/>
                </a:solidFill>
              </a:defRPr>
            </a:pPr>
            <a:r>
              <a:t>Swaraj</a:t>
            </a:r>
          </a:p>
          <a:p>
            <a:pPr>
              <a:spcAft>
                <a:spcPts val="1400"/>
              </a:spcAft>
              <a:defRPr sz="1300" b="1">
                <a:solidFill>
                  <a:srgbClr val="0F172A"/>
                </a:solidFill>
              </a:defRPr>
            </a:pPr>
            <a:r>
              <a:t>Team Leader • Systems &amp; AI Architect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</a:defRPr>
            </a:pPr>
            <a:r>
              <a:t>College: IIT Kanpur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</a:defRPr>
            </a:pPr>
            <a:r>
              <a:t>Stream: Dual Degree (Mechanical Engineering + SDS)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</a:defRPr>
            </a:pPr>
            <a:r>
              <a:t>Graduation: 2028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</a:defRPr>
            </a:pPr>
            <a:r>
              <a:t>Core Role: First-Principles PINN Modeling, Cyber-Physical Digital Twin Architecture, Causal Graph Traversal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828800"/>
            <a:ext cx="493776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65760" rIns="365760"/>
          <a:lstStyle/>
          <a:p>
            <a:pPr algn="ctr">
              <a:defRPr sz="2200" b="1">
                <a:solidFill>
                  <a:srgbClr val="A100FF"/>
                </a:solidFill>
              </a:defRPr>
            </a:pPr>
            <a:r>
              <a:t>Aman Kumar Singh</a:t>
            </a:r>
          </a:p>
          <a:p>
            <a:pPr>
              <a:spcAft>
                <a:spcPts val="1400"/>
              </a:spcAft>
              <a:defRPr sz="1300" b="1">
                <a:solidFill>
                  <a:srgbClr val="0F172A"/>
                </a:solidFill>
              </a:defRPr>
            </a:pPr>
            <a:r>
              <a:t>Core Engineer • Materials &amp; Process Twin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</a:defRPr>
            </a:pPr>
            <a:r>
              <a:t>College: IIT Kanpur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</a:defRPr>
            </a:pPr>
            <a:r>
              <a:t>Stream: B.Tech (Materials Science &amp; Engineering)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</a:defRPr>
            </a:pPr>
            <a:r>
              <a:t>Graduation: 2027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</a:defRPr>
            </a:pPr>
            <a:r>
              <a:t>Core Role: Thermodynamic Heat Transfer Solvers, Welding Kinetics, OT Maintenance Safety Gate Integration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100" b="1">
                <a:solidFill>
                  <a:srgbClr val="A100FF"/>
                </a:solidFill>
              </a:defRPr>
            </a:pPr>
            <a:r>
              <a:t>DESCRIBE THE PROBLEM STATEMENT (200 WORDS)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Configuring the Bottleneck Before It Happens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75488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🚨 1. Bottleneck Ripple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A slowdown at one station never stays local. Upstream stations queue up work-in-progress (buffer overflow), while downstream stations starve for parts.</a:t>
            </a:r>
          </a:p>
          <a:p>
            <a:pPr>
              <a:spcBef>
                <a:spcPts val="1000"/>
              </a:spcBef>
              <a:defRPr sz="1100">
                <a:solidFill>
                  <a:srgbClr val="CBD5E1"/>
                </a:solidFill>
              </a:defRPr>
            </a:pPr>
            <a:r>
              <a:t>• Unplanned downtime costs exceed $22,000/minute.</a:t>
            </a:r>
            <a:br/>
            <a:r>
              <a:t>• Upstream backpressure creates invisible cascading line micro-stoppages.</a:t>
            </a:r>
            <a:br/>
            <a:r>
              <a:t>• Traditional static threshold dashboards cannot predict shifting constraints.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463040"/>
            <a:ext cx="3328416" cy="475488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🔍 2. Silent Defect Carry-Over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Faults introduced early (e.g. sub-nominal weld nuggets or joint torque loss) travel silently across dozens of stations before end-of-line gates catch them.</a:t>
            </a:r>
          </a:p>
          <a:p>
            <a:pPr>
              <a:spcBef>
                <a:spcPts val="1000"/>
              </a:spcBef>
              <a:defRPr sz="1100">
                <a:solidFill>
                  <a:srgbClr val="CBD5E1"/>
                </a:solidFill>
              </a:defRPr>
            </a:pPr>
            <a:r>
              <a:t>• Over $336,000 in scrap rework &amp; warranty liability per escaped defect batch.</a:t>
            </a:r>
            <a:br/>
            <a:r>
              <a:t>• Origin root causes remain invisible without unit-level tracking.</a:t>
            </a:r>
            <a:br/>
            <a:r>
              <a:t>• Forced into indiscriminate 5,000-unit blanket recalls.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463040"/>
            <a:ext cx="3328416" cy="475488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600" b="1">
                <a:solidFill>
                  <a:srgbClr val="00E5FF"/>
                </a:solidFill>
              </a:defRPr>
            </a:pPr>
            <a:r>
              <a:t>📡 3. Sensor Blind Spots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Legacy automotive lines have 30–50% unmonitored data-gap stations. High-density smart sensor retrofits cost &gt;$500k per line.</a:t>
            </a:r>
          </a:p>
          <a:p>
            <a:pPr>
              <a:spcBef>
                <a:spcPts val="1000"/>
              </a:spcBef>
              <a:defRPr sz="1100">
                <a:solidFill>
                  <a:srgbClr val="CBD5E1"/>
                </a:solidFill>
              </a:defRPr>
            </a:pPr>
            <a:r>
              <a:t>• Legacy brownfield tooling cannot support full IoT density.</a:t>
            </a:r>
            <a:br/>
            <a:r>
              <a:t>• Pure statistical ML models hallucinate over missing sensor telemetry.</a:t>
            </a:r>
            <a:br/>
            <a:r>
              <a:t>• Urgent need for First-Principles physics + neighbor inference.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100" b="1">
                <a:solidFill>
                  <a:srgbClr val="A100FF"/>
                </a:solidFill>
              </a:defRPr>
            </a:pPr>
            <a:r>
              <a:t>PROPOSED SOLUTION (200 WORDS)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From Predicting the Line to Knowing When Predictions Are Trustworthy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475488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400" b="1">
                <a:solidFill>
                  <a:srgbClr val="00E5FF"/>
                </a:solidFill>
              </a:defRPr>
            </a:pPr>
            <a:r>
              <a:t>⚛️ 1. PINN Flow Twin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Solves real continuous differential equations:</a:t>
            </a:r>
          </a:p>
          <a:p>
            <a:pPr>
              <a:spcBef>
                <a:spcPts val="800"/>
              </a:spcBef>
              <a:defRPr sz="1000">
                <a:solidFill>
                  <a:srgbClr val="FFFFFF"/>
                </a:solidFill>
              </a:defRPr>
            </a:pPr>
            <a:r>
              <a:t>• S2 RSW Nugget:</a:t>
            </a:r>
            <a:br/>
            <a:r>
              <a:t>d_n = k√(I²Rt / ρCp)</a:t>
            </a:r>
            <a:br/>
            <a:r>
              <a:t>(AWS D8.9M spec)</a:t>
            </a:r>
            <a:br/>
            <a:r>
              <a:t>• S3 Thermal ODE:</a:t>
            </a:r>
            <a:br/>
            <a:r>
              <a:t>dT/dt = P/Cpm - hA/Cpm(T-Tenv)</a:t>
            </a:r>
            <a:br/>
            <a:r>
              <a:t>(Earned R² = 1.00)</a:t>
            </a:r>
            <a:br/>
            <a:r>
              <a:t>• S8 Torque Friction:</a:t>
            </a:r>
            <a:br/>
            <a:r>
              <a:t>τ = K·Fp·d·e^(-μn)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463040"/>
            <a:ext cx="2468880" cy="475488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🕸️ 2. Causal Topology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Infers unmonitored blind spots via flow dynamics:</a:t>
            </a:r>
          </a:p>
          <a:p>
            <a:pPr>
              <a:spcBef>
                <a:spcPts val="800"/>
              </a:spcBef>
              <a:defRPr sz="1000">
                <a:solidFill>
                  <a:srgbClr val="FFFFFF"/>
                </a:solidFill>
              </a:defRPr>
            </a:pPr>
            <a:r>
              <a:t>• Upstream Backpressure:</a:t>
            </a:r>
            <a:br/>
            <a:r>
              <a:t>isBlocked = true (Amber)</a:t>
            </a:r>
            <a:br/>
            <a:r>
              <a:t>• Downstream Starvation:</a:t>
            </a:r>
            <a:br/>
            <a:r>
              <a:t>isStarved = true (Purple)</a:t>
            </a:r>
            <a:br/>
            <a:r>
              <a:t>• Neighbor Inference:</a:t>
            </a:r>
            <a:br/>
            <a:r>
              <a:t>Pinpoints data-gap faults without new edge sensors.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2468880" cy="475488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400" b="1">
                <a:solidFill>
                  <a:srgbClr val="A100FF"/>
                </a:solidFill>
              </a:defRPr>
            </a:pPr>
            <a:r>
              <a:t>🚗 3. Quality Trace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Unit-level digital chassis passport tracking:</a:t>
            </a:r>
          </a:p>
          <a:p>
            <a:pPr>
              <a:spcBef>
                <a:spcPts val="800"/>
              </a:spcBef>
              <a:defRPr sz="1000">
                <a:solidFill>
                  <a:srgbClr val="FFFFFF"/>
                </a:solidFill>
              </a:defRPr>
            </a:pPr>
            <a:r>
              <a:t>• Dynamic VIN Passports:</a:t>
            </a:r>
            <a:br/>
            <a:r>
              <a:t>Logs tool wear &amp; dwell variance.</a:t>
            </a:r>
            <a:br/>
            <a:r>
              <a:t>• Causal Backward Trace:</a:t>
            </a:r>
            <a:br/>
            <a:r>
              <a:t>Traverses station graph upon gate defect detection.</a:t>
            </a:r>
            <a:br/>
            <a:r>
              <a:t>• Ranked Recall Set:</a:t>
            </a:r>
            <a:br/>
            <a:r>
              <a:t>Isolates 12 units containing $336k exposure.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463040"/>
            <a:ext cx="2468880" cy="475488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🛡️ 4. Prescriptive OT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Prescriptive simulation with safety boundaries:</a:t>
            </a:r>
          </a:p>
          <a:p>
            <a:pPr>
              <a:spcBef>
                <a:spcPts val="800"/>
              </a:spcBef>
              <a:defRPr sz="1000">
                <a:solidFill>
                  <a:srgbClr val="FFFFFF"/>
                </a:solidFill>
              </a:defRPr>
            </a:pPr>
            <a:r>
              <a:t>• What-If Simulations:</a:t>
            </a:r>
            <a:br/>
            <a:r>
              <a:t>Buffer expansion &amp; cooling tests.</a:t>
            </a:r>
            <a:br/>
            <a:r>
              <a:t>• OT Safety Gate:</a:t>
            </a:r>
            <a:br/>
            <a:r>
              <a:t>Strictly blocks capex edits outside Maintenance Windows (MW-1, MW-2).</a:t>
            </a:r>
            <a:br/>
            <a:r>
              <a:t>• Human Decision Loop:</a:t>
            </a:r>
            <a:br/>
            <a:r>
              <a:t>Observe → Predict → Verify → Decide.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100" b="1">
                <a:solidFill>
                  <a:srgbClr val="A100FF"/>
                </a:solidFill>
              </a:defRPr>
            </a:pPr>
            <a:r>
              <a:t>LIVE SYSTEM CAPABILITIES &amp; EMPIRICAL RIGOR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Prototype Demonstration &amp; Verification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6217920" cy="475488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36576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🎥 Full Interactive Prototype Video Walkthrough</a:t>
            </a:r>
          </a:p>
          <a:p>
            <a:pPr>
              <a:spcBef>
                <a:spcPts val="600"/>
              </a:spcBef>
              <a:defRPr sz="1200">
                <a:solidFill>
                  <a:srgbClr val="00E5FF"/>
                </a:solidFill>
              </a:defRPr>
            </a:pPr>
            <a:r>
              <a:t>Live Cyber-Physical Twin Running at http://localhost:8080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1. 1-to-1 Aligned Physical Line Visualizer (2D Track, 3D Isometric &amp; Energy Heatmap)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2. 6-Way Synchronized Causal Dependency Topology (Force-Directed &amp; Arc Modes)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3. Live 42 JPH Throughput Waveform Analyzer &amp; System Entropy Stability Gauge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4. Dynamic Unit Traceability with Automated Backward Graph Defect Traversal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5. Programmatic OT Maintenance Window Safety Gate Gating Hardware Modifications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23760" y="1463040"/>
            <a:ext cx="4236415" cy="4754880"/>
          </a:xfrm>
          <a:prstGeom prst="roundRect">
            <a:avLst/>
          </a:prstGeom>
          <a:solidFill>
            <a:srgbClr val="1A2235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✅ 16 / 16 Automated Assertions Passed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• Holdout Out-of-Sample Accuracy: </a:t>
            </a:r>
            <a:r>
              <a:rPr b="1">
                <a:solidFill>
                  <a:srgbClr val="FFFFFF"/>
                </a:solidFill>
              </a:rPr>
              <a:t>98.0% (Brier: 0.024)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• False Alarm Rate (FAR): </a:t>
            </a:r>
            <a:r>
              <a:rPr b="1">
                <a:solidFill>
                  <a:srgbClr val="FFFFFF"/>
                </a:solidFill>
              </a:rPr>
              <a:t>1.2% (Target &lt; 8.0%)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• Continuous Thermal PINN R²: </a:t>
            </a:r>
            <a:r>
              <a:rPr b="1">
                <a:solidFill>
                  <a:srgbClr val="FFFFFF"/>
                </a:solidFill>
              </a:rPr>
              <a:t>1.00 (Unclamped)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• AWS Spot Weld Nugget Spec: </a:t>
            </a:r>
            <a:r>
              <a:rPr b="1">
                <a:solidFill>
                  <a:srgbClr val="FFFFFF"/>
                </a:solidFill>
              </a:rPr>
              <a:t>5.08mm (Spec: 4.8-6.0mm)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• Dynamic VIN Resolution: </a:t>
            </a:r>
            <a:r>
              <a:rPr b="1">
                <a:solidFill>
                  <a:srgbClr val="FFFFFF"/>
                </a:solidFill>
              </a:rPr>
              <a:t>100% Dynamic Path Safe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• Detroit Brownfield Payback: </a:t>
            </a:r>
            <a:r>
              <a:rPr b="1">
                <a:solidFill>
                  <a:srgbClr val="FFFFFF"/>
                </a:solidFill>
              </a:rPr>
              <a:t>8.5 Months ($42k Capex)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• Munich Hybrid Payback: </a:t>
            </a:r>
            <a:r>
              <a:rPr b="1">
                <a:solidFill>
                  <a:srgbClr val="FFFFFF"/>
                </a:solidFill>
              </a:rPr>
              <a:t>5.2 Months ($18.5k Capex)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• Yokohama Greenfield Payback: </a:t>
            </a:r>
            <a:r>
              <a:rPr b="1">
                <a:solidFill>
                  <a:srgbClr val="FFFFFF"/>
                </a:solidFill>
              </a:rPr>
              <a:t>2.8 Months ($6.5k Capex)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>
              <a:spcBef>
                <a:spcPts val="1400"/>
              </a:spcBef>
              <a:defRPr sz="2200" b="1">
                <a:solidFill>
                  <a:srgbClr val="00E5FF"/>
                </a:solidFill>
              </a:defRPr>
            </a:pPr>
            <a:r>
              <a:t>DigitalTwin.ai / Sylas — AI Reinvention Made Real</a:t>
            </a:r>
          </a:p>
          <a:p>
            <a:pPr>
              <a:spcBef>
                <a:spcPts val="800"/>
              </a:spcBef>
              <a:defRPr sz="1400">
                <a:solidFill>
                  <a:srgbClr val="E2E8F0"/>
                </a:solidFill>
              </a:defRPr>
            </a:pPr>
            <a:r>
              <a:t>IIT Kanpur | Team Sylas • Swaraj (Lead) &amp; Aman Kumar Singh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084FC"/>
                </a:solidFill>
              </a:defRPr>
            </a:pPr>
            <a:r>
              <a:t>Copyright © 2026 Accenture. All rights reserved. | Accenture Innovation Challenge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